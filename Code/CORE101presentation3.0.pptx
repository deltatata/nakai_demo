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"/>
  </p:notesMasterIdLst>
  <p:handoutMasterIdLst>
    <p:handoutMasterId r:id="rId12"/>
  </p:handoutMasterIdLst>
  <p:sldIdLst>
    <p:sldId id="256" r:id="rId4"/>
    <p:sldId id="273" r:id="rId5"/>
    <p:sldId id="277" r:id="rId6"/>
    <p:sldId id="296" r:id="rId7"/>
    <p:sldId id="261" r:id="rId8"/>
    <p:sldId id="303" r:id="rId9"/>
    <p:sldId id="30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7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A2CF"/>
    <a:srgbClr val="FFFFFF"/>
    <a:srgbClr val="80CFF5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0"/>
        <p:guide pos="376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ts val="18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ts val="18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/>
          <p:nvPr userDrawn="1"/>
        </p:nvPicPr>
        <p:blipFill>
          <a:blip r:embed="rId17"/>
          <a:stretch>
            <a:fillRect/>
          </a:stretch>
        </p:blipFill>
        <p:spPr>
          <a:xfrm>
            <a:off x="10751820" y="0"/>
            <a:ext cx="1440000" cy="1440000"/>
          </a:xfrm>
          <a:prstGeom prst="rect">
            <a:avLst/>
          </a:prstGeom>
        </p:spPr>
      </p:pic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24B94-652C-431A-8599-749C1F6285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34467-995A-47B2-BCE5-C392E15E119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7.png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2041525"/>
            <a:ext cx="9799320" cy="1859915"/>
          </a:xfrm>
        </p:spPr>
        <p:txBody>
          <a:bodyPr anchor="ctr" anchorCtr="0">
            <a:noAutofit/>
          </a:bodyPr>
          <a:p>
            <a: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  <a:t>Neural Evidence of Cross-domain</a:t>
            </a:r>
            <a:b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  <a:t>Structural Interaction between</a:t>
            </a:r>
            <a:b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zh-CN" sz="3600">
                <a:latin typeface="Arial Black" panose="020B0A04020102020204" charset="0"/>
                <a:cs typeface="Arial Black" panose="020B0A04020102020204" charset="0"/>
              </a:rPr>
              <a:t>Language and Arithmetic</a:t>
            </a:r>
            <a:endParaRPr lang="en-US" altLang="zh-CN" sz="360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576195" y="4381500"/>
            <a:ext cx="7039610" cy="975995"/>
          </a:xfrm>
        </p:spPr>
        <p:txBody>
          <a:bodyPr anchor="ctr" anchorCtr="0"/>
          <a:p>
            <a:r>
              <a:rPr lang="en-US" altLang="zh-CN">
                <a:latin typeface="Arial" panose="020B0604020202090204" pitchFamily="34" charset="0"/>
                <a:cs typeface="Arial" panose="020B0604020202090204" pitchFamily="34" charset="0"/>
              </a:rPr>
              <a:t>Bihan Wang, Mengting Jiang, Yixuan Zhu, Zhiyi Chen, Zhekun Zou</a:t>
            </a:r>
            <a:endParaRPr lang="en-US" altLang="zh-CN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" name="组合 39"/>
          <p:cNvGrpSpPr/>
          <p:nvPr/>
        </p:nvGrpSpPr>
        <p:grpSpPr>
          <a:xfrm>
            <a:off x="7741920" y="3923030"/>
            <a:ext cx="3892550" cy="1859915"/>
            <a:chOff x="12390" y="11055"/>
            <a:chExt cx="6130" cy="2929"/>
          </a:xfrm>
        </p:grpSpPr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390" y="11660"/>
              <a:ext cx="6131" cy="2325"/>
            </a:xfrm>
            <a:prstGeom prst="rect">
              <a:avLst/>
            </a:prstGeom>
          </p:spPr>
        </p:pic>
        <p:sp>
          <p:nvSpPr>
            <p:cNvPr id="39" name="圆角矩形 38"/>
            <p:cNvSpPr/>
            <p:nvPr/>
          </p:nvSpPr>
          <p:spPr>
            <a:xfrm>
              <a:off x="12390" y="11055"/>
              <a:ext cx="4930" cy="603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Functional </a:t>
              </a:r>
              <a:r>
                <a:rPr lang="en-US" altLang="zh-CN" sz="1600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Localizer</a:t>
              </a:r>
              <a:endParaRPr lang="en-US" altLang="zh-CN" sz="1600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740650" y="1341755"/>
            <a:ext cx="3893820" cy="2273300"/>
            <a:chOff x="12190" y="1954"/>
            <a:chExt cx="6132" cy="3580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90" y="2556"/>
              <a:ext cx="6132" cy="2978"/>
            </a:xfrm>
            <a:prstGeom prst="rect">
              <a:avLst/>
            </a:prstGeom>
          </p:spPr>
        </p:pic>
        <p:sp>
          <p:nvSpPr>
            <p:cNvPr id="36" name="圆角矩形 35"/>
            <p:cNvSpPr/>
            <p:nvPr/>
          </p:nvSpPr>
          <p:spPr>
            <a:xfrm>
              <a:off x="12190" y="1954"/>
              <a:ext cx="4930" cy="603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Repetition Suppression</a:t>
              </a:r>
              <a:endParaRPr lang="en-US" altLang="zh-CN" sz="1600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  <p:sp>
        <p:nvSpPr>
          <p:cNvPr id="6" name="标题 5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530225" y="413385"/>
            <a:ext cx="5690235" cy="574040"/>
          </a:xfrm>
        </p:spPr>
        <p:txBody>
          <a:bodyPr anchor="ctr" anchorCtr="0">
            <a:noAutofit/>
          </a:bodyPr>
          <a:p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1 </a:t>
            </a:r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Introduction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125470" y="1174750"/>
            <a:ext cx="4615253" cy="4789663"/>
            <a:chOff x="634" y="2456"/>
            <a:chExt cx="6517" cy="656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" y="2456"/>
              <a:ext cx="6517" cy="588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724" y="8602"/>
              <a:ext cx="4427" cy="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source: Nakai &amp; Okanoya, 2018</a:t>
              </a:r>
              <a:endParaRPr lang="en-US" altLang="zh-CN" sz="1400"/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457200" y="3812540"/>
            <a:ext cx="2140585" cy="574040"/>
          </a:xfrm>
          <a:prstGeom prst="roundRect">
            <a:avLst/>
          </a:prstGeom>
          <a:solidFill>
            <a:srgbClr val="4AA2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rPr>
              <a:t>32 Arithmetic</a:t>
            </a:r>
            <a:endParaRPr lang="en-US" altLang="zh-CN" b="1">
              <a:latin typeface="Arial Semibold" charset="0"/>
              <a:ea typeface="PingFang SC Semibold" panose="020B0400000000000000" charset="-122"/>
              <a:cs typeface="Arial Semibold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7200" y="1951990"/>
            <a:ext cx="2140585" cy="574040"/>
          </a:xfrm>
          <a:prstGeom prst="roundRect">
            <a:avLst/>
          </a:prstGeom>
          <a:solidFill>
            <a:srgbClr val="4AA2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rPr>
              <a:t>32 Language</a:t>
            </a:r>
            <a:endParaRPr lang="en-US" altLang="zh-CN" b="1">
              <a:latin typeface="Arial Semibold" charset="0"/>
              <a:ea typeface="PingFang SC Semibold" panose="020B0400000000000000" charset="-122"/>
              <a:cs typeface="Arial Semibold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41335" y="4853940"/>
            <a:ext cx="2948940" cy="904240"/>
            <a:chOff x="12821" y="2554"/>
            <a:chExt cx="4644" cy="1424"/>
          </a:xfrm>
        </p:grpSpPr>
        <p:sp>
          <p:nvSpPr>
            <p:cNvPr id="16" name="文本框 15"/>
            <p:cNvSpPr txBox="1"/>
            <p:nvPr/>
          </p:nvSpPr>
          <p:spPr>
            <a:xfrm>
              <a:off x="12821" y="3156"/>
              <a:ext cx="464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en-US" altLang="zh-CN" sz="1400">
                  <a:latin typeface="Arial" panose="020B0604020202090204" pitchFamily="34" charset="0"/>
                  <a:cs typeface="Arial" panose="020B0604020202090204" pitchFamily="34" charset="0"/>
                </a:rPr>
                <a:t>congruent: LB</a:t>
              </a:r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</a:rPr>
                <a:t>→</a:t>
              </a:r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</a:rPr>
                <a:t>LB, RB→RB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</a:rPr>
                <a:t>incongruent: LB→RB, RB→ LB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821" y="2554"/>
              <a:ext cx="2580" cy="60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1600" b="1">
                  <a:solidFill>
                    <a:srgbClr val="4AA2C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congruency</a:t>
              </a:r>
              <a:endParaRPr lang="en-US" altLang="zh-CN" sz="1600" b="1">
                <a:solidFill>
                  <a:srgbClr val="4AA2C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141335" y="1781810"/>
            <a:ext cx="2948940" cy="904240"/>
            <a:chOff x="12821" y="2554"/>
            <a:chExt cx="4644" cy="1424"/>
          </a:xfrm>
        </p:grpSpPr>
        <p:sp>
          <p:nvSpPr>
            <p:cNvPr id="5" name="文本框 4"/>
            <p:cNvSpPr txBox="1"/>
            <p:nvPr/>
          </p:nvSpPr>
          <p:spPr>
            <a:xfrm>
              <a:off x="12821" y="3156"/>
              <a:ext cx="464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en-US" altLang="zh-CN" sz="1400">
                  <a:latin typeface="Arial" panose="020B0604020202090204" pitchFamily="34" charset="0"/>
                  <a:cs typeface="Arial" panose="020B0604020202090204" pitchFamily="34" charset="0"/>
                </a:rPr>
                <a:t>LB: left branches, [adv., n., vi.]</a:t>
              </a:r>
              <a:endParaRPr lang="en-US" altLang="zh-CN" sz="140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</a:rPr>
                <a:t>RB: right branches, [n., adv, vi.]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821" y="2554"/>
              <a:ext cx="2580" cy="60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1600" b="1">
                  <a:solidFill>
                    <a:srgbClr val="4AA2C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LB/ RB</a:t>
              </a:r>
              <a:endParaRPr lang="en-US" altLang="zh-CN" sz="1600" b="1">
                <a:solidFill>
                  <a:srgbClr val="4AA2C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141335" y="5024120"/>
            <a:ext cx="2948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 sz="14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141335" y="3317875"/>
            <a:ext cx="3209290" cy="904240"/>
            <a:chOff x="12821" y="2554"/>
            <a:chExt cx="4762" cy="1424"/>
          </a:xfrm>
        </p:grpSpPr>
        <p:sp>
          <p:nvSpPr>
            <p:cNvPr id="14" name="文本框 13"/>
            <p:cNvSpPr txBox="1"/>
            <p:nvPr/>
          </p:nvSpPr>
          <p:spPr>
            <a:xfrm>
              <a:off x="12821" y="3156"/>
              <a:ext cx="4644" cy="82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p>
              <a:r>
                <a:rPr lang="en-US" altLang="zh-CN" sz="1400">
                  <a:latin typeface="Arial" panose="020B0604020202090204" pitchFamily="34" charset="0"/>
                  <a:cs typeface="Arial" panose="020B0604020202090204" pitchFamily="34" charset="0"/>
                </a:rPr>
                <a:t>standard:multiplies of 10</a:t>
              </a:r>
              <a:endParaRPr lang="en-US" altLang="zh-CN" sz="140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</a:rPr>
                <a:t>deviant: +1/ -1 to standard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21" y="2554"/>
              <a:ext cx="4762" cy="60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p>
              <a:r>
                <a:rPr lang="en-US" altLang="zh-CN" sz="1600" b="1">
                  <a:solidFill>
                    <a:srgbClr val="4AA2CF"/>
                  </a:solidFill>
                  <a:latin typeface="Arial" panose="020B0604020202090204" pitchFamily="34" charset="0"/>
                  <a:cs typeface="Arial" panose="020B0604020202090204" pitchFamily="34" charset="0"/>
                  <a:sym typeface="+mn-ea"/>
                </a:rPr>
                <a:t>standard/ deviant (coherency)</a:t>
              </a:r>
              <a:endParaRPr lang="en-US" altLang="zh-CN" sz="1600" b="1">
                <a:solidFill>
                  <a:srgbClr val="4AA2C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457200" y="2686050"/>
            <a:ext cx="2140585" cy="64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8 LB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√</a:t>
            </a:r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, 8 LB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 Semibold" charset="0"/>
                <a:sym typeface="+mn-ea"/>
              </a:rPr>
              <a:t>×</a:t>
            </a:r>
            <a:endParaRPr lang="en-US" altLang="zh-CN" sz="1600">
              <a:solidFill>
                <a:schemeClr val="tx1"/>
              </a:solidFill>
              <a:latin typeface="Arial Semibold" charset="0"/>
              <a:ea typeface="PingFang SC Semibold" panose="020B0400000000000000" charset="-122"/>
              <a:cs typeface="Arial Semibold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8 RB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√</a:t>
            </a:r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, 8 RB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 Semibold" charset="0"/>
                <a:sym typeface="+mn-ea"/>
              </a:rPr>
              <a:t>×</a:t>
            </a:r>
            <a:endParaRPr lang="en-US" altLang="zh-CN" sz="1600">
              <a:solidFill>
                <a:schemeClr val="tx1"/>
              </a:solidFill>
              <a:latin typeface="Arial" panose="020B0604020202090204" pitchFamily="34" charset="0"/>
              <a:ea typeface="PingFang SC Semibold" panose="020B0400000000000000" charset="-122"/>
              <a:cs typeface="Arial Semibold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7200" y="4486275"/>
            <a:ext cx="2140585" cy="647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8 LB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√</a:t>
            </a:r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, 8 LB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 Semibold" charset="0"/>
                <a:sym typeface="+mn-ea"/>
              </a:rPr>
              <a:t>×</a:t>
            </a:r>
            <a:endParaRPr lang="en-US" altLang="zh-CN" sz="1600">
              <a:solidFill>
                <a:schemeClr val="tx1"/>
              </a:solidFill>
              <a:latin typeface="Arial Semibold" charset="0"/>
              <a:ea typeface="PingFang SC Semibold" panose="020B0400000000000000" charset="-122"/>
              <a:cs typeface="Arial Semibold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8 RB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√</a:t>
            </a:r>
            <a:r>
              <a:rPr lang="en-US" altLang="zh-CN" sz="1600">
                <a:solidFill>
                  <a:schemeClr val="tx1"/>
                </a:solidFill>
                <a:latin typeface="Arial Semibold" charset="0"/>
                <a:ea typeface="PingFang SC Semibold" panose="020B0400000000000000" charset="-122"/>
                <a:cs typeface="Arial Semibold" charset="0"/>
                <a:sym typeface="+mn-ea"/>
              </a:rPr>
              <a:t>, 8 RB </a:t>
            </a:r>
            <a:r>
              <a:rPr lang="en-US" altLang="zh-CN" sz="1600">
                <a:solidFill>
                  <a:schemeClr val="tx1"/>
                </a:solidFill>
                <a:latin typeface="Arial" panose="020B0604020202090204" pitchFamily="34" charset="0"/>
                <a:ea typeface="PingFang SC Semibold" panose="020B0400000000000000" charset="-122"/>
                <a:cs typeface="Arial Semibold" charset="0"/>
                <a:sym typeface="+mn-ea"/>
              </a:rPr>
              <a:t>×</a:t>
            </a:r>
            <a:endParaRPr lang="en-US" altLang="zh-CN" sz="1600">
              <a:solidFill>
                <a:schemeClr val="tx1"/>
              </a:solidFill>
              <a:latin typeface="Arial" panose="020B0604020202090204" pitchFamily="34" charset="0"/>
              <a:ea typeface="PingFang SC Semibold" panose="020B0400000000000000" charset="-122"/>
              <a:cs typeface="Arial Semibold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54400" y="6858000"/>
            <a:ext cx="3957320" cy="4249420"/>
            <a:chOff x="835" y="2088"/>
            <a:chExt cx="8687" cy="8440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5"/>
            <a:srcRect l="582" r="1217"/>
            <a:stretch>
              <a:fillRect/>
            </a:stretch>
          </p:blipFill>
          <p:spPr>
            <a:xfrm>
              <a:off x="835" y="2088"/>
              <a:ext cx="7487" cy="8440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8289" y="2409"/>
              <a:ext cx="1137" cy="2013"/>
              <a:chOff x="8289" y="2409"/>
              <a:chExt cx="1137" cy="2013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8460" y="3133"/>
                <a:ext cx="966" cy="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Arial" panose="020B0604020202090204" pitchFamily="34" charset="0"/>
                    <a:cs typeface="Arial" panose="020B0604020202090204" pitchFamily="34" charset="0"/>
                  </a:rPr>
                  <a:t>8 L√</a:t>
                </a:r>
                <a:endParaRPr lang="en-US" altLang="zh-CN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4" name="右中括号 23"/>
              <p:cNvSpPr/>
              <p:nvPr/>
            </p:nvSpPr>
            <p:spPr>
              <a:xfrm>
                <a:off x="8289" y="2409"/>
                <a:ext cx="198" cy="2013"/>
              </a:xfrm>
              <a:prstGeom prst="rightBracket">
                <a:avLst/>
              </a:prstGeom>
              <a:ln w="19050">
                <a:solidFill>
                  <a:srgbClr val="4AA2C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287" y="4422"/>
              <a:ext cx="1235" cy="2013"/>
              <a:chOff x="8289" y="2409"/>
              <a:chExt cx="1235" cy="2013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8460" y="3133"/>
                <a:ext cx="1064" cy="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Arial" panose="020B0604020202090204" pitchFamily="34" charset="0"/>
                    <a:cs typeface="Arial" panose="020B0604020202090204" pitchFamily="34" charset="0"/>
                  </a:rPr>
                  <a:t>8 R√</a:t>
                </a:r>
                <a:endParaRPr lang="en-US" altLang="zh-CN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7" name="右中括号 26"/>
              <p:cNvSpPr/>
              <p:nvPr/>
            </p:nvSpPr>
            <p:spPr>
              <a:xfrm>
                <a:off x="8289" y="2409"/>
                <a:ext cx="198" cy="2013"/>
              </a:xfrm>
              <a:prstGeom prst="rightBracket">
                <a:avLst/>
              </a:prstGeom>
              <a:ln w="19050">
                <a:solidFill>
                  <a:srgbClr val="4AA2C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289" y="6446"/>
              <a:ext cx="1207" cy="2013"/>
              <a:chOff x="8289" y="2409"/>
              <a:chExt cx="1207" cy="2013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8460" y="3133"/>
                <a:ext cx="1036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Arial" panose="020B0604020202090204" pitchFamily="34" charset="0"/>
                    <a:cs typeface="Arial" panose="020B0604020202090204" pitchFamily="34" charset="0"/>
                  </a:rPr>
                  <a:t>8 L</a:t>
                </a:r>
                <a:r>
                  <a:rPr lang="en-US" altLang="en-US" sz="1000">
                    <a:latin typeface="Arial" panose="020B0604020202090204" pitchFamily="34" charset="0"/>
                    <a:cs typeface="Arial" panose="020B0604020202090204" pitchFamily="34" charset="0"/>
                  </a:rPr>
                  <a:t>×</a:t>
                </a:r>
                <a:endParaRPr lang="en-US" altLang="en-US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endParaRPr lang="en-US" altLang="en-US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右中括号 29"/>
              <p:cNvSpPr/>
              <p:nvPr/>
            </p:nvSpPr>
            <p:spPr>
              <a:xfrm>
                <a:off x="8289" y="2409"/>
                <a:ext cx="198" cy="2013"/>
              </a:xfrm>
              <a:prstGeom prst="rightBracket">
                <a:avLst/>
              </a:prstGeom>
              <a:ln w="19050">
                <a:solidFill>
                  <a:srgbClr val="4AA2C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8287" y="8459"/>
              <a:ext cx="1207" cy="2013"/>
              <a:chOff x="8289" y="2409"/>
              <a:chExt cx="1207" cy="2013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8460" y="3133"/>
                <a:ext cx="1036" cy="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Arial" panose="020B0604020202090204" pitchFamily="34" charset="0"/>
                    <a:cs typeface="Arial" panose="020B0604020202090204" pitchFamily="34" charset="0"/>
                  </a:rPr>
                  <a:t>8 R</a:t>
                </a:r>
                <a:r>
                  <a:rPr lang="en-US" altLang="en-US" sz="1000">
                    <a:latin typeface="Arial" panose="020B0604020202090204" pitchFamily="34" charset="0"/>
                    <a:cs typeface="Arial" panose="020B0604020202090204" pitchFamily="34" charset="0"/>
                  </a:rPr>
                  <a:t>×</a:t>
                </a:r>
                <a:endParaRPr lang="en-US" altLang="en-US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endParaRPr lang="en-US" altLang="en-US" sz="10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右中括号 32"/>
              <p:cNvSpPr/>
              <p:nvPr/>
            </p:nvSpPr>
            <p:spPr>
              <a:xfrm>
                <a:off x="8289" y="2409"/>
                <a:ext cx="198" cy="2013"/>
              </a:xfrm>
              <a:prstGeom prst="rightBracket">
                <a:avLst/>
              </a:prstGeom>
              <a:ln w="19050">
                <a:solidFill>
                  <a:srgbClr val="4AA2CF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120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0833333 -0.769722 " pathEditMode="relative" rAng="0" ptsTypes=""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30225" y="524510"/>
            <a:ext cx="8676005" cy="574040"/>
          </a:xfrm>
        </p:spPr>
        <p:txBody>
          <a:bodyPr anchor="ctr" anchorCtr="0">
            <a:noAutofit/>
          </a:bodyPr>
          <a:p>
            <a:r>
              <a:rPr lang="en-US" altLang="zh-CN" sz="2800" b="1">
                <a:latin typeface="Arial" panose="020B0604020202090204" pitchFamily="34" charset="0"/>
                <a:cs typeface="Arial" panose="020B0604020202090204" pitchFamily="34" charset="0"/>
              </a:rPr>
              <a:t>2.1 Functions for pairing </a:t>
            </a:r>
            <a:r>
              <a:rPr lang="en-US" altLang="zh-CN" sz="2800" b="1">
                <a:latin typeface="Arial" panose="020B0604020202090204" pitchFamily="34" charset="0"/>
                <a:cs typeface="Arial" panose="020B0604020202090204" pitchFamily="34" charset="0"/>
              </a:rPr>
              <a:t>stimulus</a:t>
            </a:r>
            <a:endParaRPr lang="en-US" altLang="zh-CN" sz="28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6870" y="1673225"/>
            <a:ext cx="11718290" cy="424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 algn="ctr">
              <a:lnSpc>
                <a:spcPts val="1800"/>
              </a:lnSpc>
            </a:pPr>
            <a:r>
              <a:rPr lang="en-US" altLang="zh-CN" b="1">
                <a:solidFill>
                  <a:schemeClr val="tx1"/>
                </a:solidFill>
                <a:latin typeface="Menlo" panose="020B0609030804020204" charset="0"/>
                <a:ea typeface="Menlo" panose="020B0609030804020204"/>
                <a:cs typeface="Menlo" panose="020B0609030804020204" charset="0"/>
              </a:rPr>
              <a:t>------derangement of repetition suppression and functional localizer------ </a:t>
            </a:r>
            <a:endParaRPr lang="en-US" altLang="zh-CN" b="1">
              <a:solidFill>
                <a:schemeClr val="tx1"/>
              </a:solidFill>
              <a:latin typeface="Menlo" panose="020B0609030804020204" charset="0"/>
              <a:ea typeface="Menlo" panose="020B0609030804020204"/>
              <a:cs typeface="Menlo" panose="020B0609030804020204" charset="0"/>
            </a:endParaRPr>
          </a:p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derangements_RS(df):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derangements_FL(df):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 algn="ctr">
              <a:lnSpc>
                <a:spcPts val="1800"/>
              </a:lnSpc>
            </a:pPr>
            <a:r>
              <a:rPr lang="en-US" altLang="zh-CN" b="1">
                <a:solidFill>
                  <a:schemeClr val="tx1"/>
                </a:solidFill>
                <a:latin typeface="Menlo" panose="020B0609030804020204" charset="0"/>
                <a:ea typeface="Menlo" panose="020B0609030804020204"/>
                <a:cs typeface="Menlo" panose="020B0609030804020204" charset="0"/>
              </a:rPr>
              <a:t>------Presenting functions------</a:t>
            </a:r>
            <a:endParaRPr lang="en-US" altLang="zh-CN" b="1">
              <a:solidFill>
                <a:schemeClr val="tx1"/>
              </a:solidFill>
              <a:latin typeface="Menlo" panose="020B0609030804020204" charset="0"/>
              <a:ea typeface="Menlo" panose="020B0609030804020204"/>
              <a:cs typeface="Menlo" panose="020B0609030804020204" charset="0"/>
            </a:endParaRPr>
          </a:p>
          <a:p>
            <a:pPr>
              <a:lnSpc>
                <a:spcPts val="1800"/>
              </a:lnSpc>
            </a:pPr>
            <a:endParaRPr lang="en-US" altLang="zh-CN">
              <a:latin typeface="Menlo" panose="020B0609030804020204"/>
              <a:ea typeface="Menlo" panose="020B0609030804020204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altLang="zh-CN">
                <a:latin typeface="Menlo" panose="020B0609030804020204"/>
                <a:ea typeface="Menlo" panose="020B0609030804020204"/>
                <a:sym typeface="+mn-ea"/>
              </a:rPr>
              <a:t>def present_instructions(text, key=K_SPACE):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timed_draw(*stims):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present_for(*stims, t=1000):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1">
                <a:solidFill>
                  <a:schemeClr val="tx1"/>
                </a:solidFill>
                <a:latin typeface="Menlo" panose="020B0609030804020204" charset="0"/>
                <a:ea typeface="Menlo" panose="020B0609030804020204"/>
                <a:cs typeface="Menlo" panose="020B0609030804020204" charset="0"/>
              </a:rPr>
              <a:t>def present_for_wait_key(*stims, t=1000):</a:t>
            </a:r>
            <a:endParaRPr lang="en-US" altLang="zh-CN" b="1">
              <a:solidFill>
                <a:schemeClr val="tx1"/>
              </a:solidFill>
              <a:latin typeface="Menlo" panose="020B0609030804020204" charset="0"/>
              <a:ea typeface="Menlo" panose="020B0609030804020204"/>
              <a:cs typeface="Menlo" panose="020B0609030804020204" charset="0"/>
            </a:endParaRPr>
          </a:p>
          <a:p>
            <a:pPr indent="457200"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 # check keyboard while present stimuli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present_blank(t=200):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lang="en-US" altLang="zh-CN" b="0">
                <a:solidFill>
                  <a:schemeClr val="tx1"/>
                </a:solidFill>
                <a:latin typeface="Menlo" panose="020B0609030804020204"/>
                <a:ea typeface="Menlo" panose="020B0609030804020204"/>
              </a:rPr>
              <a:t>def present_ITI(iti_win, text = ''):</a:t>
            </a: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endParaRPr lang="en-US" altLang="zh-CN" b="0">
              <a:solidFill>
                <a:schemeClr val="tx1"/>
              </a:solidFill>
              <a:latin typeface="Menlo" panose="020B0609030804020204"/>
              <a:ea typeface="Menlo" panose="020B0609030804020204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3690" y="400050"/>
            <a:ext cx="8676005" cy="574040"/>
          </a:xfrm>
        </p:spPr>
        <p:txBody>
          <a:bodyPr anchor="ctr" anchorCtr="0">
            <a:noAutofit/>
          </a:bodyPr>
          <a:p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2.2 def derangements_RS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13690" y="1132840"/>
            <a:ext cx="10451465" cy="3271520"/>
            <a:chOff x="494" y="2310"/>
            <a:chExt cx="16459" cy="5311"/>
          </a:xfrm>
        </p:grpSpPr>
        <p:sp>
          <p:nvSpPr>
            <p:cNvPr id="14" name="圆角矩形 13"/>
            <p:cNvSpPr/>
            <p:nvPr/>
          </p:nvSpPr>
          <p:spPr>
            <a:xfrm>
              <a:off x="494" y="2679"/>
              <a:ext cx="16459" cy="494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sent_df = df[df.type=='language'].copy()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arith_df = df[df.type=='arithmetic'].copy()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def split_groups(df):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return {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'Lcoh'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: df[(df.branch=='LB') &amp; (df.coherency=='coherent')].copy(),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'Lincoh'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: df[(df.branch=='LB') &amp; (df.coherency=='incoherent')].copy(),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'Rcoh'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: df[(df.branch=='RB') &amp; (df.coherency=='coherent')].copy(),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'Rincoh'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: df[(df.branch=='RB') &amp; (df.coherency=='incoherent')].copy(),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}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sent_groups = split_groups(sent_df)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arith_groups = split_groups(arith_df)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180" y="2310"/>
              <a:ext cx="4141" cy="586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split groups</a:t>
              </a:r>
              <a:endPara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3" y="3502"/>
              <a:ext cx="10370" cy="790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481965" y="4671060"/>
            <a:ext cx="8463915" cy="1998345"/>
            <a:chOff x="1912" y="3282"/>
            <a:chExt cx="13329" cy="3147"/>
          </a:xfrm>
        </p:grpSpPr>
        <p:sp>
          <p:nvSpPr>
            <p:cNvPr id="16" name="圆角矩形 15"/>
            <p:cNvSpPr/>
            <p:nvPr/>
          </p:nvSpPr>
          <p:spPr>
            <a:xfrm>
              <a:off x="1912" y="3709"/>
              <a:ext cx="13329" cy="27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rgbClr val="FFFF00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pairs_LangArith = []</a:t>
              </a:r>
              <a:endParaRPr lang="en-US" altLang="zh-CN" sz="1400">
                <a:solidFill>
                  <a:srgbClr val="FFFF00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a_available = {k: list(v.to_dict('records')) for k,v in arith_groups.items()}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for s_group_name, s_group in sent_groups.items():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s_list = s_group.to_dict('records')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for i, s in enumerate(s_list):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a_group_name = a_group_order[</a:t>
              </a:r>
              <a:r>
                <a:rPr lang="en-US" altLang="zh-CN" sz="1400" b="1">
                  <a:solidFill>
                    <a:srgbClr val="4AA2CF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(i // 2) % len(a_group_order)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]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2333" y="3282"/>
              <a:ext cx="4936" cy="565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language to arithmetic</a:t>
              </a:r>
              <a:endPara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组合 283"/>
          <p:cNvGrpSpPr/>
          <p:nvPr/>
        </p:nvGrpSpPr>
        <p:grpSpPr>
          <a:xfrm>
            <a:off x="11202322" y="1476376"/>
            <a:ext cx="586333" cy="586333"/>
            <a:chOff x="1454489" y="1295126"/>
            <a:chExt cx="586333" cy="586333"/>
          </a:xfrm>
        </p:grpSpPr>
        <p:sp>
          <p:nvSpPr>
            <p:cNvPr id="285" name="矩形 28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11012681" y="1414820"/>
            <a:ext cx="586333" cy="586333"/>
            <a:chOff x="1454489" y="1295126"/>
            <a:chExt cx="586333" cy="586333"/>
          </a:xfrm>
        </p:grpSpPr>
        <p:sp>
          <p:nvSpPr>
            <p:cNvPr id="288" name="矩形 28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90" name="组合 289"/>
          <p:cNvGrpSpPr/>
          <p:nvPr/>
        </p:nvGrpSpPr>
        <p:grpSpPr>
          <a:xfrm>
            <a:off x="10821558" y="1353265"/>
            <a:ext cx="586333" cy="586333"/>
            <a:chOff x="1454489" y="1295126"/>
            <a:chExt cx="586333" cy="586333"/>
          </a:xfrm>
        </p:grpSpPr>
        <p:sp>
          <p:nvSpPr>
            <p:cNvPr id="291" name="矩形 29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2" name="文本框 291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10643994" y="1291710"/>
            <a:ext cx="586333" cy="586333"/>
            <a:chOff x="1454489" y="1295126"/>
            <a:chExt cx="586333" cy="586333"/>
          </a:xfrm>
        </p:grpSpPr>
        <p:sp>
          <p:nvSpPr>
            <p:cNvPr id="294" name="矩形 29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96" name="组合 295"/>
          <p:cNvGrpSpPr/>
          <p:nvPr/>
        </p:nvGrpSpPr>
        <p:grpSpPr>
          <a:xfrm>
            <a:off x="10465839" y="1225792"/>
            <a:ext cx="586333" cy="586978"/>
            <a:chOff x="1454489" y="1295126"/>
            <a:chExt cx="586333" cy="586978"/>
          </a:xfrm>
        </p:grpSpPr>
        <p:sp>
          <p:nvSpPr>
            <p:cNvPr id="297" name="矩形 29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98" name="文本框 297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>
            <a:off x="10276198" y="1164236"/>
            <a:ext cx="592683" cy="586978"/>
            <a:chOff x="1454489" y="1295126"/>
            <a:chExt cx="592683" cy="586978"/>
          </a:xfrm>
        </p:grpSpPr>
        <p:sp>
          <p:nvSpPr>
            <p:cNvPr id="300" name="矩形 29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01" name="文本框 300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10085075" y="1102681"/>
            <a:ext cx="586333" cy="586333"/>
            <a:chOff x="1454489" y="1295126"/>
            <a:chExt cx="586333" cy="586333"/>
          </a:xfrm>
        </p:grpSpPr>
        <p:sp>
          <p:nvSpPr>
            <p:cNvPr id="303" name="矩形 30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04" name="文本框 303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9907511" y="1041126"/>
            <a:ext cx="592683" cy="586978"/>
            <a:chOff x="1454489" y="1295126"/>
            <a:chExt cx="592683" cy="586978"/>
          </a:xfrm>
        </p:grpSpPr>
        <p:sp>
          <p:nvSpPr>
            <p:cNvPr id="306" name="矩形 30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99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0099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08" name="组合 307"/>
          <p:cNvGrpSpPr/>
          <p:nvPr/>
        </p:nvGrpSpPr>
        <p:grpSpPr>
          <a:xfrm>
            <a:off x="11202322" y="2950005"/>
            <a:ext cx="586333" cy="586333"/>
            <a:chOff x="1454489" y="1295126"/>
            <a:chExt cx="586333" cy="586333"/>
          </a:xfrm>
        </p:grpSpPr>
        <p:sp>
          <p:nvSpPr>
            <p:cNvPr id="309" name="矩形 30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10" name="文本框 309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11" name="组合 310"/>
          <p:cNvGrpSpPr/>
          <p:nvPr/>
        </p:nvGrpSpPr>
        <p:grpSpPr>
          <a:xfrm>
            <a:off x="11012681" y="2888449"/>
            <a:ext cx="586333" cy="586333"/>
            <a:chOff x="1454489" y="1295126"/>
            <a:chExt cx="586333" cy="586333"/>
          </a:xfrm>
        </p:grpSpPr>
        <p:sp>
          <p:nvSpPr>
            <p:cNvPr id="312" name="矩形 31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13" name="文本框 312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14" name="组合 313"/>
          <p:cNvGrpSpPr/>
          <p:nvPr/>
        </p:nvGrpSpPr>
        <p:grpSpPr>
          <a:xfrm>
            <a:off x="10821558" y="2826894"/>
            <a:ext cx="586333" cy="586333"/>
            <a:chOff x="1454489" y="1295126"/>
            <a:chExt cx="586333" cy="586333"/>
          </a:xfrm>
        </p:grpSpPr>
        <p:sp>
          <p:nvSpPr>
            <p:cNvPr id="315" name="矩形 31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16" name="文本框 315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17" name="组合 316"/>
          <p:cNvGrpSpPr/>
          <p:nvPr/>
        </p:nvGrpSpPr>
        <p:grpSpPr>
          <a:xfrm>
            <a:off x="10643994" y="2765339"/>
            <a:ext cx="586333" cy="586333"/>
            <a:chOff x="1454489" y="1295126"/>
            <a:chExt cx="586333" cy="586333"/>
          </a:xfrm>
        </p:grpSpPr>
        <p:sp>
          <p:nvSpPr>
            <p:cNvPr id="318" name="矩形 31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19" name="文本框 318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20" name="组合 319"/>
          <p:cNvGrpSpPr/>
          <p:nvPr/>
        </p:nvGrpSpPr>
        <p:grpSpPr>
          <a:xfrm>
            <a:off x="10465839" y="2699421"/>
            <a:ext cx="586333" cy="586978"/>
            <a:chOff x="1454489" y="1295126"/>
            <a:chExt cx="586333" cy="586978"/>
          </a:xfrm>
        </p:grpSpPr>
        <p:sp>
          <p:nvSpPr>
            <p:cNvPr id="321" name="矩形 32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22" name="文本框 321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23" name="组合 322"/>
          <p:cNvGrpSpPr/>
          <p:nvPr/>
        </p:nvGrpSpPr>
        <p:grpSpPr>
          <a:xfrm>
            <a:off x="10276198" y="2637865"/>
            <a:ext cx="592683" cy="586978"/>
            <a:chOff x="1454489" y="1295126"/>
            <a:chExt cx="592683" cy="586978"/>
          </a:xfrm>
        </p:grpSpPr>
        <p:sp>
          <p:nvSpPr>
            <p:cNvPr id="324" name="矩形 32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25" name="文本框 324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26" name="组合 325"/>
          <p:cNvGrpSpPr/>
          <p:nvPr/>
        </p:nvGrpSpPr>
        <p:grpSpPr>
          <a:xfrm>
            <a:off x="10085075" y="2576310"/>
            <a:ext cx="586333" cy="586333"/>
            <a:chOff x="1454489" y="1295126"/>
            <a:chExt cx="586333" cy="586333"/>
          </a:xfrm>
        </p:grpSpPr>
        <p:sp>
          <p:nvSpPr>
            <p:cNvPr id="327" name="矩形 32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28" name="文本框 327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9907511" y="2514755"/>
            <a:ext cx="592683" cy="586978"/>
            <a:chOff x="1454489" y="1295126"/>
            <a:chExt cx="592683" cy="586978"/>
          </a:xfrm>
        </p:grpSpPr>
        <p:sp>
          <p:nvSpPr>
            <p:cNvPr id="330" name="矩形 32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31" name="文本框 330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32" name="组合 331"/>
          <p:cNvGrpSpPr/>
          <p:nvPr/>
        </p:nvGrpSpPr>
        <p:grpSpPr>
          <a:xfrm>
            <a:off x="11202322" y="4423634"/>
            <a:ext cx="586333" cy="586333"/>
            <a:chOff x="1454489" y="1295126"/>
            <a:chExt cx="586333" cy="586333"/>
          </a:xfrm>
        </p:grpSpPr>
        <p:sp>
          <p:nvSpPr>
            <p:cNvPr id="333" name="矩形 33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34" name="文本框 333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35" name="组合 334"/>
          <p:cNvGrpSpPr/>
          <p:nvPr/>
        </p:nvGrpSpPr>
        <p:grpSpPr>
          <a:xfrm>
            <a:off x="11012681" y="4362078"/>
            <a:ext cx="586333" cy="586333"/>
            <a:chOff x="1454489" y="1295126"/>
            <a:chExt cx="586333" cy="586333"/>
          </a:xfrm>
        </p:grpSpPr>
        <p:sp>
          <p:nvSpPr>
            <p:cNvPr id="336" name="矩形 33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10821558" y="4300523"/>
            <a:ext cx="586333" cy="586333"/>
            <a:chOff x="1454489" y="1295126"/>
            <a:chExt cx="586333" cy="586333"/>
          </a:xfrm>
        </p:grpSpPr>
        <p:sp>
          <p:nvSpPr>
            <p:cNvPr id="339" name="矩形 33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41" name="组合 340"/>
          <p:cNvGrpSpPr/>
          <p:nvPr/>
        </p:nvGrpSpPr>
        <p:grpSpPr>
          <a:xfrm>
            <a:off x="10643994" y="4238968"/>
            <a:ext cx="586333" cy="586333"/>
            <a:chOff x="1454489" y="1295126"/>
            <a:chExt cx="586333" cy="586333"/>
          </a:xfrm>
        </p:grpSpPr>
        <p:sp>
          <p:nvSpPr>
            <p:cNvPr id="342" name="矩形 34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43" name="文本框 342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44" name="组合 343"/>
          <p:cNvGrpSpPr/>
          <p:nvPr/>
        </p:nvGrpSpPr>
        <p:grpSpPr>
          <a:xfrm>
            <a:off x="10465839" y="4173050"/>
            <a:ext cx="586333" cy="586978"/>
            <a:chOff x="1454489" y="1295126"/>
            <a:chExt cx="586333" cy="586978"/>
          </a:xfrm>
        </p:grpSpPr>
        <p:sp>
          <p:nvSpPr>
            <p:cNvPr id="345" name="矩形 34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46" name="文本框 345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47" name="组合 346"/>
          <p:cNvGrpSpPr/>
          <p:nvPr/>
        </p:nvGrpSpPr>
        <p:grpSpPr>
          <a:xfrm>
            <a:off x="10276198" y="4111494"/>
            <a:ext cx="592683" cy="586978"/>
            <a:chOff x="1454489" y="1295126"/>
            <a:chExt cx="592683" cy="586978"/>
          </a:xfrm>
        </p:grpSpPr>
        <p:sp>
          <p:nvSpPr>
            <p:cNvPr id="348" name="矩形 34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50" name="组合 349"/>
          <p:cNvGrpSpPr/>
          <p:nvPr/>
        </p:nvGrpSpPr>
        <p:grpSpPr>
          <a:xfrm>
            <a:off x="10085075" y="4049939"/>
            <a:ext cx="586333" cy="586333"/>
            <a:chOff x="1454489" y="1295126"/>
            <a:chExt cx="586333" cy="586333"/>
          </a:xfrm>
        </p:grpSpPr>
        <p:sp>
          <p:nvSpPr>
            <p:cNvPr id="351" name="矩形 35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53" name="组合 352"/>
          <p:cNvGrpSpPr/>
          <p:nvPr/>
        </p:nvGrpSpPr>
        <p:grpSpPr>
          <a:xfrm>
            <a:off x="9907511" y="3988384"/>
            <a:ext cx="592683" cy="586978"/>
            <a:chOff x="1454489" y="1295126"/>
            <a:chExt cx="592683" cy="586978"/>
          </a:xfrm>
        </p:grpSpPr>
        <p:sp>
          <p:nvSpPr>
            <p:cNvPr id="354" name="矩形 35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55" name="文本框 354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56" name="组合 355"/>
          <p:cNvGrpSpPr/>
          <p:nvPr/>
        </p:nvGrpSpPr>
        <p:grpSpPr>
          <a:xfrm>
            <a:off x="11202322" y="5853504"/>
            <a:ext cx="586333" cy="586333"/>
            <a:chOff x="1454489" y="1295126"/>
            <a:chExt cx="586333" cy="586333"/>
          </a:xfrm>
        </p:grpSpPr>
        <p:sp>
          <p:nvSpPr>
            <p:cNvPr id="357" name="矩形 35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58" name="文本框 357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59" name="组合 358"/>
          <p:cNvGrpSpPr/>
          <p:nvPr/>
        </p:nvGrpSpPr>
        <p:grpSpPr>
          <a:xfrm>
            <a:off x="11012681" y="5791948"/>
            <a:ext cx="586333" cy="586333"/>
            <a:chOff x="1454489" y="1295126"/>
            <a:chExt cx="586333" cy="586333"/>
          </a:xfrm>
        </p:grpSpPr>
        <p:sp>
          <p:nvSpPr>
            <p:cNvPr id="360" name="矩形 35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61" name="文本框 360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62" name="组合 361"/>
          <p:cNvGrpSpPr/>
          <p:nvPr/>
        </p:nvGrpSpPr>
        <p:grpSpPr>
          <a:xfrm>
            <a:off x="10821558" y="5730393"/>
            <a:ext cx="586333" cy="586333"/>
            <a:chOff x="1454489" y="1295126"/>
            <a:chExt cx="586333" cy="586333"/>
          </a:xfrm>
        </p:grpSpPr>
        <p:sp>
          <p:nvSpPr>
            <p:cNvPr id="363" name="矩形 36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65" name="组合 364"/>
          <p:cNvGrpSpPr/>
          <p:nvPr/>
        </p:nvGrpSpPr>
        <p:grpSpPr>
          <a:xfrm>
            <a:off x="10643994" y="5668838"/>
            <a:ext cx="586333" cy="586333"/>
            <a:chOff x="1454489" y="1295126"/>
            <a:chExt cx="586333" cy="586333"/>
          </a:xfrm>
        </p:grpSpPr>
        <p:sp>
          <p:nvSpPr>
            <p:cNvPr id="366" name="矩形 36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67" name="文本框 366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68" name="组合 367"/>
          <p:cNvGrpSpPr/>
          <p:nvPr/>
        </p:nvGrpSpPr>
        <p:grpSpPr>
          <a:xfrm>
            <a:off x="10465839" y="5602920"/>
            <a:ext cx="586333" cy="586978"/>
            <a:chOff x="1454489" y="1295126"/>
            <a:chExt cx="586333" cy="586978"/>
          </a:xfrm>
        </p:grpSpPr>
        <p:sp>
          <p:nvSpPr>
            <p:cNvPr id="369" name="矩形 36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70" name="文本框 369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>
            <a:off x="10276198" y="5541364"/>
            <a:ext cx="592683" cy="586978"/>
            <a:chOff x="1454489" y="1295126"/>
            <a:chExt cx="592683" cy="586978"/>
          </a:xfrm>
        </p:grpSpPr>
        <p:sp>
          <p:nvSpPr>
            <p:cNvPr id="372" name="矩形 37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73" name="文本框 372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74" name="组合 373"/>
          <p:cNvGrpSpPr/>
          <p:nvPr/>
        </p:nvGrpSpPr>
        <p:grpSpPr>
          <a:xfrm>
            <a:off x="10085075" y="5479809"/>
            <a:ext cx="586333" cy="586333"/>
            <a:chOff x="1454489" y="1295126"/>
            <a:chExt cx="586333" cy="586333"/>
          </a:xfrm>
        </p:grpSpPr>
        <p:sp>
          <p:nvSpPr>
            <p:cNvPr id="375" name="矩形 37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76" name="文本框 375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77" name="组合 376"/>
          <p:cNvGrpSpPr/>
          <p:nvPr/>
        </p:nvGrpSpPr>
        <p:grpSpPr>
          <a:xfrm>
            <a:off x="9907511" y="5418254"/>
            <a:ext cx="592683" cy="586978"/>
            <a:chOff x="1454489" y="1295126"/>
            <a:chExt cx="592683" cy="586978"/>
          </a:xfrm>
        </p:grpSpPr>
        <p:sp>
          <p:nvSpPr>
            <p:cNvPr id="378" name="矩形 37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FF6699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79" name="文本框 378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FF6699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17591" y="1476376"/>
            <a:ext cx="586333" cy="586333"/>
            <a:chOff x="1454489" y="1295126"/>
            <a:chExt cx="586333" cy="586333"/>
          </a:xfrm>
        </p:grpSpPr>
        <p:sp>
          <p:nvSpPr>
            <p:cNvPr id="27" name="矩形 2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327950" y="1414820"/>
            <a:ext cx="586333" cy="586333"/>
            <a:chOff x="1454489" y="1295126"/>
            <a:chExt cx="586333" cy="586333"/>
          </a:xfrm>
        </p:grpSpPr>
        <p:sp>
          <p:nvSpPr>
            <p:cNvPr id="30" name="矩形 2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136827" y="1353265"/>
            <a:ext cx="586333" cy="586333"/>
            <a:chOff x="1454489" y="1295126"/>
            <a:chExt cx="586333" cy="586333"/>
          </a:xfrm>
        </p:grpSpPr>
        <p:sp>
          <p:nvSpPr>
            <p:cNvPr id="33" name="矩形 3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959263" y="1291710"/>
            <a:ext cx="586333" cy="586333"/>
            <a:chOff x="1454489" y="1295126"/>
            <a:chExt cx="586333" cy="586333"/>
          </a:xfrm>
        </p:grpSpPr>
        <p:sp>
          <p:nvSpPr>
            <p:cNvPr id="36" name="矩形 3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781108" y="1225792"/>
            <a:ext cx="586333" cy="586978"/>
            <a:chOff x="1454489" y="1295126"/>
            <a:chExt cx="586333" cy="586978"/>
          </a:xfrm>
        </p:grpSpPr>
        <p:sp>
          <p:nvSpPr>
            <p:cNvPr id="24" name="矩形 2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91467" y="1164236"/>
            <a:ext cx="592683" cy="586978"/>
            <a:chOff x="1454489" y="1295126"/>
            <a:chExt cx="592683" cy="586978"/>
          </a:xfrm>
        </p:grpSpPr>
        <p:sp>
          <p:nvSpPr>
            <p:cNvPr id="21" name="矩形 2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400344" y="1102681"/>
            <a:ext cx="586333" cy="586333"/>
            <a:chOff x="1454489" y="1295126"/>
            <a:chExt cx="586333" cy="586333"/>
          </a:xfrm>
        </p:grpSpPr>
        <p:sp>
          <p:nvSpPr>
            <p:cNvPr id="18" name="矩形 1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42561" y="307435"/>
            <a:ext cx="30101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32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sentence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</a:rPr>
              <a:t>s</a:t>
            </a:r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   </a:t>
            </a:r>
            <a:endParaRPr lang="pt-BR" altLang="zh-CN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----------------------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</a:rPr>
              <a:t>--</a:t>
            </a:r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--</a:t>
            </a:r>
            <a:endParaRPr lang="zh-CN" alt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8383" y="307434"/>
            <a:ext cx="30101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</a:rPr>
              <a:t>A-expressions</a:t>
            </a:r>
            <a:endParaRPr lang="en-US" altLang="pt-BR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----------------------</a:t>
            </a:r>
            <a:r>
              <a:rPr lang="en-US" altLang="pt-BR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--</a:t>
            </a:r>
            <a:r>
              <a:rPr lang="pt-BR" altLang="zh-CN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--</a:t>
            </a:r>
            <a:endParaRPr lang="zh-CN" alt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242559" y="1295126"/>
            <a:ext cx="846345" cy="4695743"/>
            <a:chOff x="242559" y="1295126"/>
            <a:chExt cx="846345" cy="4695743"/>
          </a:xfrm>
        </p:grpSpPr>
        <p:sp>
          <p:nvSpPr>
            <p:cNvPr id="11" name="文本框 10"/>
            <p:cNvSpPr txBox="1"/>
            <p:nvPr/>
          </p:nvSpPr>
          <p:spPr>
            <a:xfrm>
              <a:off x="242561" y="1295126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L√</a:t>
              </a:r>
              <a:endParaRPr lang="pt-BR" altLang="zh-CN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42559" y="2737263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L X</a:t>
              </a:r>
              <a:endParaRPr lang="pt-BR" altLang="zh-CN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42559" y="4179400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</a:t>
              </a:r>
              <a:r>
                <a:rPr lang="en-US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R</a:t>
              </a:r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√</a:t>
              </a:r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42559" y="5621537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</a:t>
              </a:r>
              <a:r>
                <a:rPr lang="en-US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R </a:t>
              </a:r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X</a:t>
              </a:r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2780" y="1041126"/>
            <a:ext cx="592683" cy="586978"/>
            <a:chOff x="1454489" y="1295126"/>
            <a:chExt cx="592683" cy="586978"/>
          </a:xfrm>
        </p:grpSpPr>
        <p:sp>
          <p:nvSpPr>
            <p:cNvPr id="9" name="矩形 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07" name="组合 206"/>
          <p:cNvGrpSpPr/>
          <p:nvPr/>
        </p:nvGrpSpPr>
        <p:grpSpPr>
          <a:xfrm>
            <a:off x="8878383" y="1288776"/>
            <a:ext cx="846345" cy="4695743"/>
            <a:chOff x="242559" y="1295126"/>
            <a:chExt cx="846345" cy="4695743"/>
          </a:xfrm>
        </p:grpSpPr>
        <p:sp>
          <p:nvSpPr>
            <p:cNvPr id="208" name="文本框 207"/>
            <p:cNvSpPr txBox="1"/>
            <p:nvPr/>
          </p:nvSpPr>
          <p:spPr>
            <a:xfrm>
              <a:off x="242561" y="1295126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L√</a:t>
              </a:r>
              <a:endParaRPr lang="pt-BR" altLang="zh-CN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242559" y="2737263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L X</a:t>
              </a:r>
              <a:endParaRPr lang="pt-BR" altLang="zh-CN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242559" y="4179400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</a:t>
              </a:r>
              <a:r>
                <a:rPr lang="en-US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R</a:t>
              </a:r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√</a:t>
              </a:r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242559" y="5621537"/>
              <a:ext cx="8463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8 </a:t>
              </a:r>
              <a:r>
                <a:rPr lang="en-US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R </a:t>
              </a:r>
              <a:r>
                <a:rPr lang="pt-BR" altLang="zh-CN" dirty="0">
                  <a:latin typeface="Arial" panose="020B0604020202090204" pitchFamily="34" charset="0"/>
                  <a:cs typeface="Arial" panose="020B0604020202090204" pitchFamily="34" charset="0"/>
                </a:rPr>
                <a:t>X</a:t>
              </a:r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2517591" y="2950005"/>
            <a:ext cx="586333" cy="586333"/>
            <a:chOff x="1454489" y="1295126"/>
            <a:chExt cx="586333" cy="586333"/>
          </a:xfrm>
        </p:grpSpPr>
        <p:sp>
          <p:nvSpPr>
            <p:cNvPr id="213" name="矩形 21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14" name="文本框 213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2327950" y="2888449"/>
            <a:ext cx="586333" cy="586333"/>
            <a:chOff x="1454489" y="1295126"/>
            <a:chExt cx="586333" cy="586333"/>
          </a:xfrm>
        </p:grpSpPr>
        <p:sp>
          <p:nvSpPr>
            <p:cNvPr id="216" name="矩形 21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17" name="文本框 216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2136827" y="2826894"/>
            <a:ext cx="586333" cy="586333"/>
            <a:chOff x="1454489" y="1295126"/>
            <a:chExt cx="586333" cy="586333"/>
          </a:xfrm>
        </p:grpSpPr>
        <p:sp>
          <p:nvSpPr>
            <p:cNvPr id="219" name="矩形 21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1959263" y="2765339"/>
            <a:ext cx="586333" cy="586333"/>
            <a:chOff x="1454489" y="1295126"/>
            <a:chExt cx="586333" cy="586333"/>
          </a:xfrm>
        </p:grpSpPr>
        <p:sp>
          <p:nvSpPr>
            <p:cNvPr id="222" name="矩形 22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24" name="组合 223"/>
          <p:cNvGrpSpPr/>
          <p:nvPr/>
        </p:nvGrpSpPr>
        <p:grpSpPr>
          <a:xfrm>
            <a:off x="1781108" y="2699421"/>
            <a:ext cx="586333" cy="586978"/>
            <a:chOff x="1454489" y="1295126"/>
            <a:chExt cx="586333" cy="586978"/>
          </a:xfrm>
        </p:grpSpPr>
        <p:sp>
          <p:nvSpPr>
            <p:cNvPr id="225" name="矩形 22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1591467" y="2637865"/>
            <a:ext cx="592683" cy="586978"/>
            <a:chOff x="1454489" y="1295126"/>
            <a:chExt cx="592683" cy="586978"/>
          </a:xfrm>
        </p:grpSpPr>
        <p:sp>
          <p:nvSpPr>
            <p:cNvPr id="228" name="矩形 22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30" name="组合 229"/>
          <p:cNvGrpSpPr/>
          <p:nvPr/>
        </p:nvGrpSpPr>
        <p:grpSpPr>
          <a:xfrm>
            <a:off x="1400344" y="2576310"/>
            <a:ext cx="586333" cy="586333"/>
            <a:chOff x="1454489" y="1295126"/>
            <a:chExt cx="586333" cy="586333"/>
          </a:xfrm>
        </p:grpSpPr>
        <p:sp>
          <p:nvSpPr>
            <p:cNvPr id="231" name="矩形 23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33" name="组合 232"/>
          <p:cNvGrpSpPr/>
          <p:nvPr/>
        </p:nvGrpSpPr>
        <p:grpSpPr>
          <a:xfrm>
            <a:off x="1222780" y="2514755"/>
            <a:ext cx="592683" cy="586978"/>
            <a:chOff x="1454489" y="1295126"/>
            <a:chExt cx="592683" cy="586978"/>
          </a:xfrm>
        </p:grpSpPr>
        <p:sp>
          <p:nvSpPr>
            <p:cNvPr id="234" name="矩形 23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36" name="组合 235"/>
          <p:cNvGrpSpPr/>
          <p:nvPr/>
        </p:nvGrpSpPr>
        <p:grpSpPr>
          <a:xfrm>
            <a:off x="2517591" y="4423634"/>
            <a:ext cx="586333" cy="586333"/>
            <a:chOff x="1454489" y="1295126"/>
            <a:chExt cx="586333" cy="586333"/>
          </a:xfrm>
        </p:grpSpPr>
        <p:sp>
          <p:nvSpPr>
            <p:cNvPr id="237" name="矩形 23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38" name="文本框 237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39" name="组合 238"/>
          <p:cNvGrpSpPr/>
          <p:nvPr/>
        </p:nvGrpSpPr>
        <p:grpSpPr>
          <a:xfrm>
            <a:off x="2327950" y="4362078"/>
            <a:ext cx="586333" cy="586333"/>
            <a:chOff x="1454489" y="1295126"/>
            <a:chExt cx="586333" cy="586333"/>
          </a:xfrm>
        </p:grpSpPr>
        <p:sp>
          <p:nvSpPr>
            <p:cNvPr id="240" name="矩形 23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2136827" y="4300523"/>
            <a:ext cx="586333" cy="586333"/>
            <a:chOff x="1454489" y="1295126"/>
            <a:chExt cx="586333" cy="586333"/>
          </a:xfrm>
        </p:grpSpPr>
        <p:sp>
          <p:nvSpPr>
            <p:cNvPr id="243" name="矩形 24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1959263" y="4238968"/>
            <a:ext cx="586333" cy="586333"/>
            <a:chOff x="1454489" y="1295126"/>
            <a:chExt cx="586333" cy="586333"/>
          </a:xfrm>
        </p:grpSpPr>
        <p:sp>
          <p:nvSpPr>
            <p:cNvPr id="246" name="矩形 24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1781108" y="4173050"/>
            <a:ext cx="586333" cy="586978"/>
            <a:chOff x="1454489" y="1295126"/>
            <a:chExt cx="586333" cy="586978"/>
          </a:xfrm>
        </p:grpSpPr>
        <p:sp>
          <p:nvSpPr>
            <p:cNvPr id="249" name="矩形 24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>
            <a:off x="1591467" y="4111494"/>
            <a:ext cx="592683" cy="586978"/>
            <a:chOff x="1454489" y="1295126"/>
            <a:chExt cx="592683" cy="586978"/>
          </a:xfrm>
        </p:grpSpPr>
        <p:sp>
          <p:nvSpPr>
            <p:cNvPr id="252" name="矩形 25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54" name="组合 253"/>
          <p:cNvGrpSpPr/>
          <p:nvPr/>
        </p:nvGrpSpPr>
        <p:grpSpPr>
          <a:xfrm>
            <a:off x="1400344" y="4049939"/>
            <a:ext cx="586333" cy="586333"/>
            <a:chOff x="1454489" y="1295126"/>
            <a:chExt cx="586333" cy="586333"/>
          </a:xfrm>
        </p:grpSpPr>
        <p:sp>
          <p:nvSpPr>
            <p:cNvPr id="255" name="矩形 254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1222780" y="3988384"/>
            <a:ext cx="592683" cy="586978"/>
            <a:chOff x="1454489" y="1295126"/>
            <a:chExt cx="592683" cy="586978"/>
          </a:xfrm>
        </p:grpSpPr>
        <p:sp>
          <p:nvSpPr>
            <p:cNvPr id="258" name="矩形 257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59" name="文本框 258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2517591" y="5853504"/>
            <a:ext cx="586333" cy="586333"/>
            <a:chOff x="1454489" y="1295126"/>
            <a:chExt cx="586333" cy="586333"/>
          </a:xfrm>
        </p:grpSpPr>
        <p:sp>
          <p:nvSpPr>
            <p:cNvPr id="261" name="矩形 260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8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63" name="组合 262"/>
          <p:cNvGrpSpPr/>
          <p:nvPr/>
        </p:nvGrpSpPr>
        <p:grpSpPr>
          <a:xfrm>
            <a:off x="2327950" y="5791948"/>
            <a:ext cx="586333" cy="586333"/>
            <a:chOff x="1454489" y="1295126"/>
            <a:chExt cx="586333" cy="586333"/>
          </a:xfrm>
        </p:grpSpPr>
        <p:sp>
          <p:nvSpPr>
            <p:cNvPr id="264" name="矩形 263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65" name="文本框 264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7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2136827" y="5730393"/>
            <a:ext cx="586333" cy="586333"/>
            <a:chOff x="1454489" y="1295126"/>
            <a:chExt cx="586333" cy="586333"/>
          </a:xfrm>
        </p:grpSpPr>
        <p:sp>
          <p:nvSpPr>
            <p:cNvPr id="267" name="矩形 266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1959263" y="5668838"/>
            <a:ext cx="586333" cy="586333"/>
            <a:chOff x="1454489" y="1295126"/>
            <a:chExt cx="586333" cy="586333"/>
          </a:xfrm>
        </p:grpSpPr>
        <p:sp>
          <p:nvSpPr>
            <p:cNvPr id="270" name="矩形 269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1862667" y="1626358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72" name="组合 271"/>
          <p:cNvGrpSpPr/>
          <p:nvPr/>
        </p:nvGrpSpPr>
        <p:grpSpPr>
          <a:xfrm>
            <a:off x="1781108" y="5602920"/>
            <a:ext cx="586333" cy="586978"/>
            <a:chOff x="1454489" y="1295126"/>
            <a:chExt cx="586333" cy="586978"/>
          </a:xfrm>
        </p:grpSpPr>
        <p:sp>
          <p:nvSpPr>
            <p:cNvPr id="273" name="矩形 272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74" name="文本框 273"/>
            <p:cNvSpPr txBox="1"/>
            <p:nvPr/>
          </p:nvSpPr>
          <p:spPr>
            <a:xfrm>
              <a:off x="186266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1591467" y="5541364"/>
            <a:ext cx="592683" cy="586978"/>
            <a:chOff x="1454489" y="1295126"/>
            <a:chExt cx="592683" cy="586978"/>
          </a:xfrm>
        </p:grpSpPr>
        <p:sp>
          <p:nvSpPr>
            <p:cNvPr id="276" name="矩形 275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1400344" y="5479809"/>
            <a:ext cx="586333" cy="586333"/>
            <a:chOff x="1454489" y="1295126"/>
            <a:chExt cx="586333" cy="586333"/>
          </a:xfrm>
        </p:grpSpPr>
        <p:sp>
          <p:nvSpPr>
            <p:cNvPr id="279" name="矩形 278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1862667" y="1629533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1222780" y="5418254"/>
            <a:ext cx="592683" cy="586978"/>
            <a:chOff x="1454489" y="1295126"/>
            <a:chExt cx="592683" cy="586978"/>
          </a:xfrm>
        </p:grpSpPr>
        <p:sp>
          <p:nvSpPr>
            <p:cNvPr id="282" name="矩形 281"/>
            <p:cNvSpPr/>
            <p:nvPr/>
          </p:nvSpPr>
          <p:spPr>
            <a:xfrm>
              <a:off x="1454489" y="1295126"/>
              <a:ext cx="586333" cy="586333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83" name="文本框 282"/>
            <p:cNvSpPr txBox="1"/>
            <p:nvPr/>
          </p:nvSpPr>
          <p:spPr>
            <a:xfrm>
              <a:off x="1869017" y="1635883"/>
              <a:ext cx="178155" cy="246221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altLang="zh-CN" sz="1000" b="1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21094 -0.1020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47" y="-511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07407E-6 L -0.48021 -0.1020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22222E-6 L 0.19779 -0.01018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83" y="-50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-0.49505 -0.00694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53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509 L 0.28945 -0.1199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0" y="-574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33333E-6 L -0.37487 -0.31273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0" y="-15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22222E-6 L 0.2737 -0.02917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85" y="-145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96296E-6 L -0.38919 -0.225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66" y="-1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35742 -0.13935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-6968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0209 L -0.27747 -0.5326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15" y="-26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34349 -0.04051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74" y="-2037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85185E-6 L -0.29127 -0.43565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70" y="-2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07407E-6 L 0.42474 -0.15717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7" y="-787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-0.17474 -0.74097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37" y="-3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40898 -0.0583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3" y="-291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6 3.33333E-6 L -0.19101 -0.6423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23" y="-3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20898 -0.04468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43" y="-224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77556E-17 L -0.50703 0.14977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2" y="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2.96296E-6 L 0.19401 0.04907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1" y="245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22222E-6 L -0.52383 0.24583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98" y="1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4.81481E-6 L 0.28567 -0.07337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84" y="-368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-0.40339 -0.07013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69" y="-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1000"/>
                            </p:stCondLst>
                            <p:childTnLst>
                              <p:par>
                                <p:cTn id="6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59259E-6 L 0.26875 0.02963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38" y="14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-0.41771 0.02801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85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3.33333E-6 L 0.35494 -0.09421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47" y="-4722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3017 -0.29143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91" y="-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000"/>
                            </p:stCondLst>
                            <p:childTnLst>
                              <p:par>
                                <p:cTn id="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0.34049 0.00787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8" y="394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-0.31693 -0.18681 " pathEditMode="relative" rAng="0" ptsTypes="AA">
                                      <p:cBhvr>
                                        <p:cTn id="73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46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1.11111E-6 L 0.42383 -0.11296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85" y="-564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-0.20248 -0.4997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30" y="-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33333E-6 L 0.40924 -0.01158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56" y="-579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0718 L -0.21523 -0.39583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68" y="-20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3690" y="400050"/>
            <a:ext cx="8676005" cy="574040"/>
          </a:xfrm>
        </p:spPr>
        <p:txBody>
          <a:bodyPr anchor="ctr" anchorCtr="0">
            <a:noAutofit/>
          </a:bodyPr>
          <a:p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3 trial: </a:t>
            </a:r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def run_trial_RS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87045" y="1330960"/>
            <a:ext cx="6591935" cy="1538605"/>
            <a:chOff x="2034" y="2907"/>
            <a:chExt cx="15446" cy="3937"/>
          </a:xfrm>
        </p:grpSpPr>
        <p:sp>
          <p:nvSpPr>
            <p:cNvPr id="16" name="圆角矩形 15"/>
            <p:cNvSpPr/>
            <p:nvPr/>
          </p:nvSpPr>
          <p:spPr>
            <a:xfrm>
              <a:off x="2034" y="3710"/>
              <a:ext cx="15446" cy="313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present_for(FIXATION, t=FIXATION_DURATION)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key_1, rt_1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=</a:t>
              </a:r>
              <a:r>
                <a:rPr lang="en-US" altLang="zh-CN" sz="1400">
                  <a:solidFill>
                    <a:srgbClr val="FFFF00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present_for_wait_key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(stim1, t=STIMULUS_DURATION)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present_blank(t=BLANK_DURATION)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key_2, rt_2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= </a:t>
              </a:r>
              <a:r>
                <a:rPr lang="en-US" altLang="zh-CN" sz="1400">
                  <a:solidFill>
                    <a:srgbClr val="FFFF00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present_for_wait_key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(stim2, t=STIMULUS_DURATION)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2448" y="2907"/>
              <a:ext cx="12676" cy="1037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present process</a:t>
              </a:r>
              <a:endPara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87045" y="3226263"/>
            <a:ext cx="4232478" cy="3183867"/>
            <a:chOff x="2034" y="3207"/>
            <a:chExt cx="10284" cy="8739"/>
          </a:xfrm>
        </p:grpSpPr>
        <p:sp>
          <p:nvSpPr>
            <p:cNvPr id="10" name="圆角矩形 9"/>
            <p:cNvSpPr/>
            <p:nvPr/>
          </p:nvSpPr>
          <p:spPr>
            <a:xfrm>
              <a:off x="2034" y="3709"/>
              <a:ext cx="10284" cy="823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>
                <a:lnSpc>
                  <a:spcPts val="1800"/>
                </a:lnSpc>
              </a:pP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if direction == 'Lang-&gt;Arith':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lang_RT = rt_1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arith_RT = rt_2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lang_key = 'none'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arith_key = 'none'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if key_1: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lang_key = key_map[key_1]</a:t>
              </a:r>
              <a:endParaRPr lang="en-US" altLang="zh-CN" sz="1400" b="1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if key_2: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        arith_key = key_map[key_2]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    else: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  <a:p>
              <a:pPr indent="457200"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......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724" y="3207"/>
              <a:ext cx="6712" cy="1112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 record the keys</a:t>
              </a:r>
              <a:endPara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412105" y="3631536"/>
            <a:ext cx="5875098" cy="2303109"/>
            <a:chOff x="2748" y="252"/>
            <a:chExt cx="13358" cy="6320"/>
          </a:xfrm>
        </p:grpSpPr>
        <p:sp>
          <p:nvSpPr>
            <p:cNvPr id="28" name="圆角矩形 27"/>
            <p:cNvSpPr/>
            <p:nvPr/>
          </p:nvSpPr>
          <p:spPr>
            <a:xfrm>
              <a:off x="2748" y="1085"/>
              <a:ext cx="13358" cy="5487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indent="457200">
                <a:lnSpc>
                  <a:spcPts val="1800"/>
                </a:lnSpc>
              </a:pP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exp.data.add([session, trial, direction, congruency,'language', language_text, language_branch, language_coherency,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lang_RT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,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lang_key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,'arithmetic', arithmetic_text, arithmetic_branch, arithmetic_coherency, </a:t>
              </a:r>
              <a:r>
                <a:rPr lang="en-US" altLang="zh-CN" sz="1400" b="1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arith_RT, arith_key</a:t>
              </a:r>
              <a:r>
                <a:rPr lang="en-US" altLang="zh-CN" sz="1400">
                  <a:solidFill>
                    <a:schemeClr val="tx1"/>
                  </a:solidFill>
                  <a:latin typeface="Arial" panose="020B0604020202090204" pitchFamily="34" charset="0"/>
                  <a:ea typeface="Menlo" panose="020B0609030804020204"/>
                  <a:cs typeface="Arial" panose="020B0604020202090204" pitchFamily="34" charset="0"/>
                  <a:sym typeface="+mn-ea"/>
                </a:rPr>
                <a:t>])</a:t>
              </a:r>
              <a:endParaRPr lang="en-US" altLang="zh-CN" sz="1400">
                <a:solidFill>
                  <a:schemeClr val="tx1"/>
                </a:solidFill>
                <a:latin typeface="Arial" panose="020B0604020202090204" pitchFamily="34" charset="0"/>
                <a:ea typeface="Menlo" panose="020B0609030804020204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217" y="252"/>
              <a:ext cx="7482" cy="1113"/>
            </a:xfrm>
            <a:prstGeom prst="roundRect">
              <a:avLst/>
            </a:prstGeom>
            <a:solidFill>
              <a:srgbClr val="4AA2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latin typeface="Arial Semibold" charset="0"/>
                  <a:ea typeface="PingFang SC Semibold" panose="020B0400000000000000" charset="-122"/>
                  <a:cs typeface="Arial Semibold" charset="0"/>
                </a:rPr>
                <a:t>record data</a:t>
              </a:r>
              <a:endParaRPr lang="en-US" altLang="zh-CN" b="1">
                <a:latin typeface="Arial Semibold" charset="0"/>
                <a:ea typeface="PingFang SC Semibold" panose="020B0400000000000000" charset="-122"/>
                <a:cs typeface="Arial Semibold" charset="0"/>
              </a:endParaRPr>
            </a:p>
          </p:txBody>
        </p:sp>
      </p:grpSp>
      <p:sp>
        <p:nvSpPr>
          <p:cNvPr id="11" name="圆角矩形 10"/>
          <p:cNvSpPr/>
          <p:nvPr/>
        </p:nvSpPr>
        <p:spPr>
          <a:xfrm>
            <a:off x="7441565" y="1736090"/>
            <a:ext cx="3290570" cy="1017270"/>
          </a:xfrm>
          <a:prstGeom prst="roundRect">
            <a:avLst/>
          </a:prstGeom>
          <a:solidFill>
            <a:srgbClr val="4AA2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 b="1">
                <a:solidFill>
                  <a:srgbClr val="FFFF00"/>
                </a:solidFill>
                <a:latin typeface="Arial Semibold" charset="0"/>
                <a:ea typeface="PingFang SC Semibold" panose="020B0400000000000000" charset="-122"/>
                <a:cs typeface="Arial Semibold" charset="0"/>
              </a:rPr>
              <a:t>present_for_wait_key:</a:t>
            </a:r>
            <a:endParaRPr lang="en-US" altLang="zh-CN" sz="1400" b="1">
              <a:solidFill>
                <a:srgbClr val="FFFF00"/>
              </a:solidFill>
              <a:latin typeface="Arial Semibold" charset="0"/>
              <a:ea typeface="PingFang SC Semibold" panose="020B0400000000000000" charset="-122"/>
              <a:cs typeface="Arial Semibold" charset="0"/>
            </a:endParaRPr>
          </a:p>
          <a:p>
            <a:pPr indent="457200" algn="l"/>
            <a:r>
              <a:rPr lang="en-US" altLang="zh-CN" sz="1400" b="1">
                <a:latin typeface="Arial Semibold" charset="0"/>
                <a:ea typeface="PingFang SC Semibold" panose="020B0400000000000000" charset="-122"/>
                <a:cs typeface="Arial Semibold" charset="0"/>
              </a:rPr>
              <a:t>record the pressed key and reaction time of participants</a:t>
            </a:r>
            <a:endParaRPr lang="en-US" altLang="zh-CN" sz="1400" b="1">
              <a:latin typeface="Arial Semibold" charset="0"/>
              <a:ea typeface="PingFang SC Semibold" panose="020B0400000000000000" charset="-122"/>
              <a:cs typeface="Arial Semibold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3690" y="400050"/>
            <a:ext cx="8676005" cy="574040"/>
          </a:xfrm>
        </p:spPr>
        <p:txBody>
          <a:bodyPr anchor="ctr" anchorCtr="0">
            <a:noAutofit/>
          </a:bodyPr>
          <a:p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4 </a:t>
            </a:r>
            <a:r>
              <a:rPr lang="en-US" altLang="zh-CN" sz="2400" b="1">
                <a:latin typeface="Arial" panose="020B0604020202090204" pitchFamily="34" charset="0"/>
                <a:cs typeface="Arial" panose="020B0604020202090204" pitchFamily="34" charset="0"/>
              </a:rPr>
              <a:t>Main Experiment: result</a:t>
            </a:r>
            <a:endParaRPr lang="en-US" altLang="zh-CN" sz="24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892300"/>
            <a:ext cx="11696700" cy="3073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2944</Words>
  <Application>WPS 文字</Application>
  <PresentationFormat>宽屏</PresentationFormat>
  <Paragraphs>276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Arial Black</vt:lpstr>
      <vt:lpstr>Arial Semibold</vt:lpstr>
      <vt:lpstr>PingFang SC Semibold</vt:lpstr>
      <vt:lpstr>Menlo</vt:lpstr>
      <vt:lpstr>Menlo</vt:lpstr>
      <vt:lpstr>微软雅黑</vt:lpstr>
      <vt:lpstr>汉仪旗黑</vt:lpstr>
      <vt:lpstr>宋体</vt:lpstr>
      <vt:lpstr>Arial Unicode MS</vt:lpstr>
      <vt:lpstr>苹方-简</vt:lpstr>
      <vt:lpstr>等线 Light</vt:lpstr>
      <vt:lpstr>汉仪中等线KW</vt:lpstr>
      <vt:lpstr>等线</vt:lpstr>
      <vt:lpstr>汉仪书宋二KW</vt:lpstr>
      <vt:lpstr>WPS</vt:lpstr>
      <vt:lpstr>Office 主题​​</vt:lpstr>
      <vt:lpstr>Neural Evidence of Cross-domain Structural Interaction between Language and Arithmetic</vt:lpstr>
      <vt:lpstr>1 Introduction</vt:lpstr>
      <vt:lpstr>3.1 Functions for pairing stimulus</vt:lpstr>
      <vt:lpstr>3.2 def derangements_RS</vt:lpstr>
      <vt:lpstr>PowerPoint 演示文稿</vt:lpstr>
      <vt:lpstr>4 trial: def run_trial_RS</vt:lpstr>
      <vt:lpstr>5 Main Experiment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璇</cp:lastModifiedBy>
  <cp:revision>267</cp:revision>
  <dcterms:created xsi:type="dcterms:W3CDTF">2025-11-11T11:26:35Z</dcterms:created>
  <dcterms:modified xsi:type="dcterms:W3CDTF">2025-11-11T11:26:35Z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EF58B9997AE395CA7E20FD684BBDD296_41</vt:lpwstr>
  </property>
</Properties>
</file>